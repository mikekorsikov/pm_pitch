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5df3c75edb4b82" /><Relationship Type="http://schemas.openxmlformats.org/officeDocument/2006/relationships/extended-properties" Target="/docProps/app.xml" Id="R998b9bdf80204862" /><Relationship Type="http://schemas.openxmlformats.org/officeDocument/2006/relationships/officeDocument" Target="/ppt/presentation.xml" Id="R1b25c12bc3804e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d59ca82921435a"/>
  </p:sldMasterIdLst>
  <p:notesMasterIdLst>
    <p:notesMasterId xmlns:r="http://schemas.openxmlformats.org/officeDocument/2006/relationships" r:id="R29275711d348410c"/>
  </p:notesMasterIdLst>
  <p:sldIdLst>
    <p:sldId xmlns:r="http://schemas.openxmlformats.org/officeDocument/2006/relationships" id="256" r:id="R6d3a326ec5274c3e"/>
    <p:sldId xmlns:r="http://schemas.openxmlformats.org/officeDocument/2006/relationships" id="257" r:id="R5ec44d24828749be"/>
    <p:sldId xmlns:r="http://schemas.openxmlformats.org/officeDocument/2006/relationships" id="258" r:id="Ra8c130eb29db4d34"/>
    <p:sldId xmlns:r="http://schemas.openxmlformats.org/officeDocument/2006/relationships" id="259" r:id="Rbc59a95c93aa462e"/>
    <p:sldId xmlns:r="http://schemas.openxmlformats.org/officeDocument/2006/relationships" id="260" r:id="Rfac6efdce65b4363"/>
    <p:sldId xmlns:r="http://schemas.openxmlformats.org/officeDocument/2006/relationships" id="261" r:id="Rbbb3c6bb41924fbe"/>
    <p:sldId xmlns:r="http://schemas.openxmlformats.org/officeDocument/2006/relationships" id="262" r:id="R1bf705c2592b42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dd401392b4e2b" /><Relationship Type="http://schemas.openxmlformats.org/officeDocument/2006/relationships/slideMaster" Target="/ppt/slideMasters/slideMaster1.xml" Id="Ra4d59ca82921435a" /><Relationship Type="http://schemas.openxmlformats.org/officeDocument/2006/relationships/notesMaster" Target="/ppt/notesMasters/notesMaster1.xml" Id="R29275711d348410c" /><Relationship Type="http://schemas.openxmlformats.org/officeDocument/2006/relationships/presProps" Target="/ppt/presProps.xml" Id="R5113caca20f24414" /><Relationship Type="http://schemas.openxmlformats.org/officeDocument/2006/relationships/tableStyles" Target="/ppt/tableStyles.xml" Id="R8a526bacc3794905" /><Relationship Type="http://schemas.openxmlformats.org/officeDocument/2006/relationships/slide" Target="/ppt/slides/slide1.xml" Id="R6d3a326ec5274c3e" /><Relationship Type="http://schemas.openxmlformats.org/officeDocument/2006/relationships/slide" Target="/ppt/slides/slide2.xml" Id="R5ec44d24828749be" /><Relationship Type="http://schemas.openxmlformats.org/officeDocument/2006/relationships/slide" Target="/ppt/slides/slide3.xml" Id="Ra8c130eb29db4d34" /><Relationship Type="http://schemas.openxmlformats.org/officeDocument/2006/relationships/slide" Target="/ppt/slides/slide4.xml" Id="Rbc59a95c93aa462e" /><Relationship Type="http://schemas.openxmlformats.org/officeDocument/2006/relationships/slide" Target="/ppt/slides/slide5.xml" Id="Rfac6efdce65b4363" /><Relationship Type="http://schemas.openxmlformats.org/officeDocument/2006/relationships/slide" Target="/ppt/slides/slide6.xml" Id="Rbbb3c6bb41924fbe" /><Relationship Type="http://schemas.openxmlformats.org/officeDocument/2006/relationships/slide" Target="/ppt/slides/slide7.xml" Id="R1bf705c2592b42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316391ccf140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4f6fdf3c04b0e" /><Relationship Type="http://schemas.openxmlformats.org/officeDocument/2006/relationships/notesMaster" Target="/ppt/notesMasters/notesMaster1.xml" Id="Rb77e30a06efe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caa002463a4477" /><Relationship Type="http://schemas.openxmlformats.org/officeDocument/2006/relationships/notesMaster" Target="/ppt/notesMasters/notesMaster1.xml" Id="Rf126f0de78264d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5183ed61dd44b6" /><Relationship Type="http://schemas.openxmlformats.org/officeDocument/2006/relationships/notesMaster" Target="/ppt/notesMasters/notesMaster1.xml" Id="R09301df7dd4b41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f664cfd16e4244" /><Relationship Type="http://schemas.openxmlformats.org/officeDocument/2006/relationships/notesMaster" Target="/ppt/notesMasters/notesMaster1.xml" Id="Rf0979d9b30a142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259f5ae6874d51" /><Relationship Type="http://schemas.openxmlformats.org/officeDocument/2006/relationships/notesMaster" Target="/ppt/notesMasters/notesMaster1.xml" Id="R554c9b68cfe54a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3556ca7ac9448f" /><Relationship Type="http://schemas.openxmlformats.org/officeDocument/2006/relationships/notesMaster" Target="/ppt/notesMasters/notesMaster1.xml" Id="R4eb5df759d1349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ff6f8f3be94fc1" /><Relationship Type="http://schemas.openxmlformats.org/officeDocument/2006/relationships/notesMaster" Target="/ppt/notesMasters/notesMaster1.xml" Id="Re0ef990142354c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this as an illustrative executive case, not a factual Cytiva proposal. Use it to explain how you would build and defend a multi-year investment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not attack Power BI. The message is that a reporting tool can be useful while the wider finance planning and performance process remains fragmented.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are illustrative. The interview point is the method: quantify cost of doing nothing before asking for investment.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balanced. The recommendation is not 'replace Power BI everywhere'. It is to choose the right role for each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numbers are illustrative. The important point is showing implementation cost, run cost, adoption cost, retired cost and measurable benefits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funding is conditional and staged. Each phase has a gate rather than asking for blind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showing you are not pushing technology for its own sake. You are helping leadership choose based on evidence, timing and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4e34df28d46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9a074e1a10499d" /><Relationship Type="http://schemas.openxmlformats.org/officeDocument/2006/relationships/slideLayout" Target="/ppt/slideLayouts/slideLayout1.xml" Id="R522dfd30eb7c46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dfd30eb7c46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c54cbb4bb460c" /><Relationship Type="http://schemas.openxmlformats.org/officeDocument/2006/relationships/notesSlide" Target="/ppt/notesSlides/notesSlide1.xml" Id="R6abb8785ccdb40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1cc76a05d4706" /><Relationship Type="http://schemas.openxmlformats.org/officeDocument/2006/relationships/notesSlide" Target="/ppt/notesSlides/notesSlide2.xml" Id="Rf238d884a3824b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2655f7a62467a" /><Relationship Type="http://schemas.openxmlformats.org/officeDocument/2006/relationships/notesSlide" Target="/ppt/notesSlides/notesSlide3.xml" Id="Rf60beeb3eaa649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0b0a0d072442d" /><Relationship Type="http://schemas.openxmlformats.org/officeDocument/2006/relationships/notesSlide" Target="/ppt/notesSlides/notesSlide4.xml" Id="Rb276438c34e942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16ef2482145dc" /><Relationship Type="http://schemas.openxmlformats.org/officeDocument/2006/relationships/notesSlide" Target="/ppt/notesSlides/notesSlide5.xml" Id="R1ab3520e98ca44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1a4503a704b11" /><Relationship Type="http://schemas.openxmlformats.org/officeDocument/2006/relationships/notesSlide" Target="/ppt/notesSlides/notesSlide6.xml" Id="Rc66723e95d6f4a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1d88b5a874277" /><Relationship Type="http://schemas.openxmlformats.org/officeDocument/2006/relationships/notesSlide" Target="/ppt/notesSlides/notesSlide7.xml" Id="R4f307ccdbe5245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CC8D4-9C8C-49E3-B01C-E47401AA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Finance technology investment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6F47-F199-4B0B-9DDF-ADF09480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journey: moving finance reporting and planning capability from Power BI reliance to SAP SAC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D67A9-4E82-4D39-876C-E4D3425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FF8"/>
          </a:solidFill>
          <a:ln xmlns:a="http://schemas.openxmlformats.org/drawingml/2006/main" w="9525">
            <a:solidFill>
              <a:srgbClr val="265D8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Objective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Give leadership enough evidence to choose: retain current setup, improve it, or fund a phased SAC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20BD-0B08-4813-B7DD-55D04D1E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2E2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style</a:t>
            </a:r>
          </a:p>
          <a:p xmlns:a="http://schemas.openxmlformats.org/drawingml/2006/main">
            <a:pPr>
              <a:defRPr sz="13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Business outcome first. Technology second. TCO, risk, adoption and execution confidence visible before funding.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C7B63-2015-486F-B864-D0604C33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898164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904F2-BAF5-4F79-A4CB-BDB8754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Baseline finance reporting estate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86D30-E615-4C23-8E31-183769DA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Power BI delivers usable reporting, but the operating model can still create hidden cost and fragmentation.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5110A-71CA-4A59-8BC3-DB3B701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2857500" cy="3714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Current working pattern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2971B-F966-4659-9FF1-FC3650F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2333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Multiple data extracts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report logic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commentary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Separate planning cycles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Market-specific workarounds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6F13A-85EA-4A65-9DA7-14C75C1A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Main risks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0DB9B-C869-4082-8305-5CFB7E08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47875"/>
            <a:ext cx="2809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Different versions of performance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Slow planning and review cycles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controls around reports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 dependency on expert users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Limited link between plan, forecast and actuals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62C2F-0452-40D8-BE2A-5BB810A0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429000" cy="3714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DEFF8"/>
          </a:solidFill>
          <a:ln xmlns:a="http://schemas.openxmlformats.org/drawingml/2006/main" w="9525">
            <a:solidFill>
              <a:srgbClr val="265D8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Finance outcome affected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4C01D-0605-4CBD-8475-25B1E66F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2809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quality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Forecast confidence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Reporting efficiency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Governed data use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Ability to standardize across regions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C8B18-BEF8-4839-9552-F427B38D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641487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9950C5-36E7-407E-B885-732859F7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Cost of doing nothing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FB204-CCD2-48DE-BA79-0BC4353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The case needs to show the financial and operational drag that remains if the estate stays as-is.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BD7AB-8D14-422C-A8D5-416BB637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12k hrs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679B8-FB12-4DE4-97AC-321AC779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Annual manual reporting effort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D45CB-0642-4A97-A050-0E1CBDB5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A7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4A72F"/>
                </a:solidFill>
                <a:latin typeface="Aptos"/>
                <a:ea typeface="Aptos"/>
                <a:cs typeface="Aptos"/>
              </a:rPr>
              <a:t>180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18A44-5907-4E31-9D60-0A6CA3FB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Duplicate finance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9D6F8-528B-49B5-8F00-958ABB9E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4A72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4A72F"/>
                </a:solidFill>
                <a:latin typeface="Aptos"/>
                <a:ea typeface="Aptos"/>
                <a:cs typeface="Aptos"/>
              </a:rPr>
              <a:t>10 wks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88E34-E59F-4B0E-B974-84678D1E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Planning cycle duration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4931A-BBEB-4A8B-93BF-3A6A1FF4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35/mo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19AA4-8CA4-4779-9F7D-BEFDB0CD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Critical data reconciliations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D0FC9-95CA-4514-94EC-72A002D2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£1.2m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9ADF8-C6EA-4DA4-ACF6-A75A9427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716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Run cost tied to legacy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78D0F-9FEE-4C8B-8C8A-2D96F921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Cost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3B8DD-DBB6-4DCD-A2ED-337E512E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146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continues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2627C-578B-474E-BE80-A6AEF371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930B7-269B-43B1-935B-BFA0CF11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146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to validate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63B75-49FF-4C97-8036-B55F136F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effort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DAEF2-D9C3-487B-90B3-BF7181C8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146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preparation, checking, commentary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FD63B-1AB6-4866-ADA8-02B9BF7A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146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Capacity stays trapped in low-value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C5EB1-C85A-4470-A302-C1F78E7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146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Time studies, close calendar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3D9B4-6D08-4766-848C-C25DD916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52686-B3B7-4BFE-966C-03057990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147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Local logic and repeated reconciliation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1AB0C-3CED-4729-A178-EA12DFF8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147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Leadership debates the numbers before decisions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80F27-D07F-48FC-B819-C339155C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147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Data lineage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11DEA-6321-4368-9AC0-FEDED121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Platform complexity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8C3E4-EF5C-4E5D-99E3-700AA7B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147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More reports and integrations than needed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4B7E6D-58C6-4338-B86E-A1650DB9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1477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Run cost and change effort stay high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267D8-7A7C-4696-9935-1EE4FA9B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147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App and report inventory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77082-974C-41C0-AB3B-FB078189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 exposure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F2FB2E-D57B-4346-A653-73FC038F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148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Manual evidence and unclear ownership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8E4C5-D25F-4578-BE22-3821060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14825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Audit and compliance effort stays high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F32BE6-09A7-4039-82F1-C06CEA8E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3148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Control findings, access reviews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B08163-C1FD-4AD6-BB7B-8E493A58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326261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B2DE19-5CC6-47AE-918F-99410578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Options for leadership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316D3-EEED-4679-B12B-3B0D84AF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A credible case compares choices. It does not pretend there is only one possible answer.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C528E-8F61-42D4-B501-0FCDD88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4ED6B-ECCA-48D6-9524-4416548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3811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B7941-3685-4CCD-AB04-67829582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3811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Benefits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A9754-92FD-4E8A-B514-C5420EB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811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47115-E596-44B1-8E9C-15DD84E8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9EAF5-7756-403D-8872-FE2F7BDF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A. Keep Power BI-led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1F687-54D5-4C93-988F-8D0161A5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11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Continue with current reporting setup and local improvements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044DE-48FC-4165-B6C7-C79F89A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811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 disruption, low upfront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A0BFF-1314-43CE-8638-BA8D48B3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811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Fragmentation and manual effort remain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70EBC-66F3-4805-9EE2-406A753C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811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Accept only if pain is 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FEF8A-A167-427D-BB6F-0C8D8D5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B. Improve current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9D553-862F-417D-9B9B-79DCC8AF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Rationalize reports, strengthen data governance, automate selected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077C0-6BF8-4EA3-8182-B2368B97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812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Fastest practical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B282A-8EDD-4F2C-A549-C643B9A7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812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May not fix planning and performance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8E064-7B05-4C1C-81C2-8FCA1EBC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812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Good bridge if funding is constrained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BCA05-9E40-4DE7-8F79-7245335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81275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C. Phased SAC move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0D179-2903-4D71-8557-25A8F0AE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12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Move priority planning and performance capabilities into SAC over 2-3 years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E18D1-F75C-498E-9F56-E2E87362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8127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Stronger standardization and governed planning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B5305-4DD6-4191-952B-5FF60653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812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Higher change effort and adoption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5ACE9-003C-4BF0-8D9B-A329F5C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812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Preferred if Finance wants global consistency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F88DA-56A2-4A2D-9FB9-6B128E4D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F7F1"/>
          </a:solidFill>
          <a:ln xmlns:a="http://schemas.openxmlformats.org/drawingml/2006/main" w="9525">
            <a:solidFill>
              <a:srgbClr val="367C5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Recommended decision logic</a:t>
            </a:r>
          </a:p>
          <a:p xmlns:a="http://schemas.openxmlformats.org/drawingml/2006/main">
            <a:pPr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Choose SAC only where it improves Finance outcomes enough to justify TCO, migration risk and adoption effort. Keep Power BI where it remains the right consumption layer.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EED40-A51A-4E93-930A-6D5C9778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677655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B53AE-483F-4FF6-A9BA-A0D1D0DC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TCO and value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A31BE-C8C6-45DF-8D32-6BCAF57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Leadership needs to see total cost, not only implementation cost.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6F377-3088-40C8-8977-B90D2EA6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Investment 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52874-D9E6-4AA9-95CE-24FB960D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240A8-575C-4EB5-8BBE-4F15E16D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2ACA7-D0E1-4A1B-B34A-7C7A7545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2954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FC04A-CAF7-4063-9D45-024D4ED1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954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the spend buys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B5493-DA51-4897-BA1D-4F25A17B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SAC implementation and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637AA-1B79-427D-84E9-CC6A0F8D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FBA90-67B9-4115-A56F-A4296022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£1.2m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2BED4-37B1-4A3A-8944-45B550C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6954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FF170-1A03-4101-AC8C-CA2583F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954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Priority FP&amp;A models, data feeds, testing and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5AD1E-9671-4466-A85C-E39D6C8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Licences and cloud/run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433E0-7916-4912-8A95-A46A1436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£0.7m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FF408-95B6-4B7F-85C2-9F4E795E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£0.9m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6071E-AE8D-4ABE-86D0-13BC7F1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DC280-F829-444E-8DB2-50A00BE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SAC usage, support, environments and platform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88DE4-6E37-400A-B317-288E2A80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Change, training and adoption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860E3-435C-4EC3-8288-4ED82F08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E5AE6-E943-4EE2-A896-86DC70EE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£0.3m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B2131-1C23-4B16-B6BF-3A5E864E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£0.2m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C2131-9FA3-4D32-86F9-F6D8341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55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User adoption, process redesign, governance and support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17CDB-2582-4CB9-8D0A-24D4B8FD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Retired reporting / legacy cost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04769-E9D7-4CF6-8818-A26207F7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-£0.2m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C23169-795D-4BD0-A327-3194DF3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-£0.7m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24514-0167-4C9A-AFD8-9C5335D9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-£1.1m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EFCD8-15AE-4B5C-877E-7B38FE97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Decommissioned reports, infrastructure, support and duplicate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F1B09-7EB9-4AB0-A7A5-654FF647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Net annual cash impact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6E7F6-FC6D-40C5-A014-5AAEDBD5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£2.7m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89DDD-CE47-4987-A1A6-FD0D138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£1.7m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2D7D9-7F0A-4578-AC56-FAE1BFD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£0.6m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F35E56-302C-4173-B04B-47AA5E36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Illustrative investment profile before benefits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4D7681-5D37-4012-8055-6EAE6D9B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86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Capacity released from manual reporting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FD666-5863-4A4A-9496-36B9825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717420-554E-4FBF-A684-C9F922FA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2E2211-3F6F-4409-839C-BF04BD3B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2B44A-4691-46EF-BD77-98A052FD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006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 rationalization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42ED76-DE8B-4EB7-BE4A-F124742A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DE0100-5C68-463E-A03B-8A18697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139C70-8B01-49DB-8D69-E6E5D61F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720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A869B3-6098-43CD-AE90-FCEB2561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149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623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Planning cycle reduction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1FC755-B371-470B-9484-E9132218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34025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0A73E7-3EFD-42E2-BE4C-F0620E0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34025"/>
            <a:ext cx="0" cy="1333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408F1D-1B01-48C8-8784-9A93B60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49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11EC39-F402-4F49-9338-27D4876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002142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269751-2A03-4D0F-87E7-2EE48CF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Phased investment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B8F2A-A589-4140-8782-870A9DFF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A multi-year case becomes defensible when each phase proves value and reduces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E359B-782C-42AF-8FD1-8866B1FC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880F1-C4DB-4710-A6BA-1831F170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CB830-3456-4029-85C4-C17763F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Value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9DD90-DCA4-4743-840B-202AE071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858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4E104-823F-48B5-8558-82768CEF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0-6 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C77CA-CC69-4411-B16A-DD148AD3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Baseline estate, report inventory, data lineage, priority FP&amp;A use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152E2-57E3-47A8-8FF2-963B940E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Clear problem size, owners and pain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ACD92-3DE5-40FD-8005-9726124F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859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Fund only if baseline confirms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1E6B8-AB0A-4C65-BED7-77B1FB2A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6-12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C9E13-6D19-45FB-88E7-6C4CBB2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Pilot SAC for selected planning or performance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C9506-B502-411A-9CA2-A2AA9B66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Adoption, cycle time, data quality and user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13EB5-1AD0-4EFF-AE9A-8C6B495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Scale if pilot beats current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37ED2-AFB9-4D3D-A3B9-30D74969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A66BB-0C99-4C8E-AE1F-8B434E4B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Expand SAC to priority markets and standard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F6A8E-12BE-46C2-8FF4-75335780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Reduced variants, fewer reports, better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1115A-9573-4B64-9EF3-BA46FA8B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8602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Retire overlapping capability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011D0-1C79-4505-BECE-D75EFCA3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3E67F-7403-45DB-BF0D-97159104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Optimize, automate and embed AI-assisted productivity where governed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F2A52-4CA4-4029-81A9-8AFA3C67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Lower run cost, faster insight, stronger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C4A12-5B41-4660-BCEC-A9C1BD68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86075"/>
            <a:ext cx="2809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Move to continuous improvement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15048-C624-4259-8763-4E9573A5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906657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0A7A2-A637-4388-B75A-C9743645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6C590-63BA-4F14-9F35-6C37B73D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1088">
                <a:solidFill>
                  <a:srgbClr val="5A6673"/>
                </a:solidFill>
                <a:latin typeface="Aptos"/>
                <a:ea typeface="Aptos"/>
                <a:cs typeface="Aptos"/>
              </a:rPr>
              <a:t>The recommendation depends on evidence from the baseline and appetite for transformation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A08B9-38E6-4ED5-BB5A-22754FC0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0F7F1"/>
          </a:solidFill>
          <a:ln xmlns:a="http://schemas.openxmlformats.org/drawingml/2006/main" w="9525">
            <a:solidFill>
              <a:srgbClr val="367C5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Approve phased SAC investment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CB7A2-6736-4027-8A79-B2F5A492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Finance wants global planning standardization, governed performance management and measurable simplification.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FDC77-27F4-4932-90BB-0AFD9D1E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4A72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Approve bridge improvement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6CFF3-49B7-4063-B43C-FFB1834D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funding or adoption risk is too high, but reporting rationalization and data governance still need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EFB73-DCFC-4D97-A153-9BE630C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952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B94A4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Do not approve full migration yet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41FD9-AD96-4116-9844-F2EA680B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86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the baseline cannot prove enough value, user adoption risk is high, or Power BI remains sufficient.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43A10-77B5-4F52-B3FA-C3FB432B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should 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AF8A7-DE97-4F08-A56D-C82DC549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2EB3C-630C-48BD-93DE-D6A2D24A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5D8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13D4C-9F3F-43D5-8CA1-C8114D2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Finance outcome matters most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3F657-D025-43D4-ABE1-B9FAD764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Cycle time, cost, control, insight or standardization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5BCA8-CD10-439C-B02F-1AD689BB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24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Confirm value drivers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F38B5-E06D-4FD8-9279-0D6275F3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Where SAC creates better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04B25-19EE-4622-A5C1-4814C1DE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cases where planning and performance need governed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77631-F48B-40D9-A233-EAABB5B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24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Prioritize first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FB251-C516-4387-BE11-1FE512BB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Power BI should still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91CDE-626F-4565-9C25-584C0042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Reporting needs where consumption layer is enough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936D63-79E3-4243-8A1F-3ABC387B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24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6668">
            <a:solidFill>
              <a:srgbClr val="C9D1D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Avoid unnecessary migration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9A577-B3FE-4BEB-980A-D8A8C69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A6673"/>
                </a:solidFill>
                <a:latin typeface="Aptos"/>
                <a:ea typeface="Aptos"/>
                <a:cs typeface="Aptos"/>
              </a:rPr>
              <a:t>Illustrative case for interview preparation. Figures are assumptions for discussion, not Cytiva actuals.</a:t>
            </a:r>
          </a:p>
        </p:txBody>
      </p:sp>
    </p:spTree>
    <p:extLst>
      <p:ext uri="{BB962C8B-B14F-4D97-AF65-F5344CB8AC3E}">
        <p14:creationId xmlns:p14="http://schemas.microsoft.com/office/powerpoint/2010/main" val="1324016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2026-09-07T14:17:33.1240000Z</dcterms:created>
  <dcterms:modified xsi:type="dcterms:W3CDTF">2026-09-07T14:17:33.1240000Z</dcterms:modified>
</coreProperties>
</file>