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be08ca04be4f86" /><Relationship Type="http://schemas.openxmlformats.org/officeDocument/2006/relationships/extended-properties" Target="/docProps/app.xml" Id="R8f80a96b529640da" /><Relationship Type="http://schemas.openxmlformats.org/officeDocument/2006/relationships/officeDocument" Target="/ppt/presentation.xml" Id="R5951b3d4595e4e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57724dc274ad2"/>
  </p:sldMasterIdLst>
  <p:notesMasterIdLst>
    <p:notesMasterId xmlns:r="http://schemas.openxmlformats.org/officeDocument/2006/relationships" r:id="Rac3bc5c4fb0d4f2a"/>
  </p:notesMasterIdLst>
  <p:sldIdLst>
    <p:sldId xmlns:r="http://schemas.openxmlformats.org/officeDocument/2006/relationships" id="256" r:id="R47b7267854fc4dc0"/>
    <p:sldId xmlns:r="http://schemas.openxmlformats.org/officeDocument/2006/relationships" id="257" r:id="R6c29b1a2bcca4c85"/>
    <p:sldId xmlns:r="http://schemas.openxmlformats.org/officeDocument/2006/relationships" id="258" r:id="R89e3c356a676415f"/>
    <p:sldId xmlns:r="http://schemas.openxmlformats.org/officeDocument/2006/relationships" id="259" r:id="R8285d30acd11419d"/>
    <p:sldId xmlns:r="http://schemas.openxmlformats.org/officeDocument/2006/relationships" id="260" r:id="R4a211916e9554a35"/>
    <p:sldId xmlns:r="http://schemas.openxmlformats.org/officeDocument/2006/relationships" id="261" r:id="Rec87f1c89bee4144"/>
    <p:sldId xmlns:r="http://schemas.openxmlformats.org/officeDocument/2006/relationships" id="262" r:id="R96a7a0c7f43c40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92d8a0108541a0" /><Relationship Type="http://schemas.openxmlformats.org/officeDocument/2006/relationships/slideMaster" Target="/ppt/slideMasters/slideMaster1.xml" Id="Rf4a57724dc274ad2" /><Relationship Type="http://schemas.openxmlformats.org/officeDocument/2006/relationships/notesMaster" Target="/ppt/notesMasters/notesMaster1.xml" Id="Rac3bc5c4fb0d4f2a" /><Relationship Type="http://schemas.openxmlformats.org/officeDocument/2006/relationships/presProps" Target="/ppt/presProps.xml" Id="R527c671e53104014" /><Relationship Type="http://schemas.openxmlformats.org/officeDocument/2006/relationships/tableStyles" Target="/ppt/tableStyles.xml" Id="R218e188d6a8841e4" /><Relationship Type="http://schemas.openxmlformats.org/officeDocument/2006/relationships/slide" Target="/ppt/slides/slide1.xml" Id="R47b7267854fc4dc0" /><Relationship Type="http://schemas.openxmlformats.org/officeDocument/2006/relationships/slide" Target="/ppt/slides/slide2.xml" Id="R6c29b1a2bcca4c85" /><Relationship Type="http://schemas.openxmlformats.org/officeDocument/2006/relationships/slide" Target="/ppt/slides/slide3.xml" Id="R89e3c356a676415f" /><Relationship Type="http://schemas.openxmlformats.org/officeDocument/2006/relationships/slide" Target="/ppt/slides/slide4.xml" Id="R8285d30acd11419d" /><Relationship Type="http://schemas.openxmlformats.org/officeDocument/2006/relationships/slide" Target="/ppt/slides/slide5.xml" Id="R4a211916e9554a35" /><Relationship Type="http://schemas.openxmlformats.org/officeDocument/2006/relationships/slide" Target="/ppt/slides/slide6.xml" Id="Rec87f1c89bee4144" /><Relationship Type="http://schemas.openxmlformats.org/officeDocument/2006/relationships/slide" Target="/ppt/slides/slide7.xml" Id="R96a7a0c7f43c40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de1126779a44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e08cb74bae489a" /><Relationship Type="http://schemas.openxmlformats.org/officeDocument/2006/relationships/notesMaster" Target="/ppt/notesMasters/notesMaster1.xml" Id="Rf2e672d4079548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0ec8720c3d440a" /><Relationship Type="http://schemas.openxmlformats.org/officeDocument/2006/relationships/notesMaster" Target="/ppt/notesMasters/notesMaster1.xml" Id="Rbc74151333fc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ad0257c2574e37" /><Relationship Type="http://schemas.openxmlformats.org/officeDocument/2006/relationships/notesMaster" Target="/ppt/notesMasters/notesMaster1.xml" Id="R5b08c3c90b1c4b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7c4a81d00d4d95" /><Relationship Type="http://schemas.openxmlformats.org/officeDocument/2006/relationships/notesMaster" Target="/ppt/notesMasters/notesMaster1.xml" Id="R659c473a593240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33ce180333426e" /><Relationship Type="http://schemas.openxmlformats.org/officeDocument/2006/relationships/notesMaster" Target="/ppt/notesMasters/notesMaster1.xml" Id="R3ad01d10655342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b5d9a39b0b4a28" /><Relationship Type="http://schemas.openxmlformats.org/officeDocument/2006/relationships/notesMaster" Target="/ppt/notesMasters/notesMaster1.xml" Id="R0918626303a14a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92f6308a664d86" /><Relationship Type="http://schemas.openxmlformats.org/officeDocument/2006/relationships/notesMaster" Target="/ppt/notesMasters/notesMaster1.xml" Id="Ra8e06891e48e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this as an illustrative executive case, not a factual Cytiva proposal. Use it to explain how you would build and defend a multi-year investment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not attack Power BI. The message is that a reporting tool can be useful while the wider finance planning and performance process remains fragmented.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are illustrative. The interview point is the method: quantify cost of doing nothing before asking for investment.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balanced. The recommendation is not 'replace Power BI everywhere'. It is to choose the right role for each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numbers are illustrative. The important point is showing implementation cost, run cost, adoption cost, retired cost and measurable benefits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funding is conditional and staged. Each phase has a gate rather than asking for blind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showing you are not pushing technology for its own sake. You are helping leadership choose based on evidence, timing and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d973cd1db142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e272da82e4a0d" /><Relationship Type="http://schemas.openxmlformats.org/officeDocument/2006/relationships/slideLayout" Target="/ppt/slideLayouts/slideLayout1.xml" Id="R93f95622539e4e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f95622539e4e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052cb5ae14678" /><Relationship Type="http://schemas.openxmlformats.org/officeDocument/2006/relationships/notesSlide" Target="/ppt/notesSlides/notesSlide1.xml" Id="R91237af9a9b249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098f19e644996" /><Relationship Type="http://schemas.openxmlformats.org/officeDocument/2006/relationships/notesSlide" Target="/ppt/notesSlides/notesSlide2.xml" Id="R4fd338138b4f43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9f95840cf4b35" /><Relationship Type="http://schemas.openxmlformats.org/officeDocument/2006/relationships/notesSlide" Target="/ppt/notesSlides/notesSlide3.xml" Id="R603f06885603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29bda081149e3" /><Relationship Type="http://schemas.openxmlformats.org/officeDocument/2006/relationships/notesSlide" Target="/ppt/notesSlides/notesSlide4.xml" Id="R8482875093f3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f26b815c7460a" /><Relationship Type="http://schemas.openxmlformats.org/officeDocument/2006/relationships/notesSlide" Target="/ppt/notesSlides/notesSlide5.xml" Id="R6d16770ed201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2a935765943ac" /><Relationship Type="http://schemas.openxmlformats.org/officeDocument/2006/relationships/notesSlide" Target="/ppt/notesSlides/notesSlide6.xml" Id="R2c6bfeda4e0447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74a8bddf7405c" /><Relationship Type="http://schemas.openxmlformats.org/officeDocument/2006/relationships/notesSlide" Target="/ppt/notesSlides/notesSlide7.xml" Id="Re41fdbfe275343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56238-5ABF-46A5-990B-B5468608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Finance technology investment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D88A6-5CA4-4007-9B89-6452A6A6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journey: moving finance reporting and planning capability from Power BI reliance to SAP SAC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03C3D-E16D-47BA-B183-FBA285D2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FF8"/>
          </a:solidFill>
          <a:ln xmlns:a="http://schemas.openxmlformats.org/drawingml/2006/main" w="9525">
            <a:solidFill>
              <a:srgbClr val="265D8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Objective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Give leadership enough evidence to choose: retain current setup, improve it, or fund a phased SAC move.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112F7-52EC-4C54-AF18-5F9FBC43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2E2"/>
          </a:solidFill>
          <a:ln xmlns:a="http://schemas.openxmlformats.org/drawingml/2006/main" w="9525">
            <a:solidFill>
              <a:srgbClr val="E4A72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 style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Business outcome first. Technology second. TCO, risk, adoption and execution confidence visible before funding.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261FC-5EB5-4338-BFD0-9698C7F5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180271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B79CA-693C-43CB-ABF3-7A5BB2C8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Baseline finance reporting estate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FAFFC-E45C-4768-9E8D-0852B739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Power BI delivers usable reporting, but the operating model can still create hidden cost and fragmentation.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E3781-B870-4718-B0A2-E212F0FC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0" cy="3714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Current working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809F5-1D2C-48B3-A78B-7816259D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333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Multiple data extracts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report logic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commentary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Separate planning cycles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Market-specific workarounds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77569-9792-4929-8924-2F3BEC54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4A72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Main risks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F12C0-53CA-4840-8B56-B1B4B21F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47875"/>
            <a:ext cx="2809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Different versions of performance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Slow planning and review cycles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controls around reports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 dependency on expert users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Limited link between plan, forecast and actuals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BABBF-DE92-4EE5-BFBD-F18C37A2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DEFF8"/>
          </a:solidFill>
          <a:ln xmlns:a="http://schemas.openxmlformats.org/drawingml/2006/main" w="9525">
            <a:solidFill>
              <a:srgbClr val="265D8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Finance outcome affected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BED1C-CB20-4C23-B280-8C2E8602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2809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 quality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Forecast confidence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Reporting efficiency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Governed data use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Ability to standardize across regions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1F722-60A7-45B4-8A8F-FF140573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2060454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FBE24-878D-4B5B-A2A6-247D076E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Cost of doing nothing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3E54D-8751-412C-9391-8268DA09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The case needs to show the financial and operational drag that remains if the estate stays as-is.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8C813-E875-41E4-834E-CC6BC51B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12k hrs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333B7-0E67-446F-BD62-2C3D1524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Annual manual reporting effort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AAEFB-8CDD-4372-96E9-63F0B19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A7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4A72F"/>
                </a:solidFill>
                <a:latin typeface="Aptos"/>
                <a:ea typeface="Aptos"/>
                <a:cs typeface="Aptos"/>
              </a:rPr>
              <a:t>180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9A5D9-CF9D-4A68-B2FF-F708DBE5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Duplicate finance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6C519-0331-47A1-9059-87DEBA7B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A7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4A72F"/>
                </a:solidFill>
                <a:latin typeface="Aptos"/>
                <a:ea typeface="Aptos"/>
                <a:cs typeface="Aptos"/>
              </a:rPr>
              <a:t>10 wks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F0E48-6E7E-410B-B3FD-6B098072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Planning cycle duration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C1F28-7187-4735-AC0C-11B5229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35/mo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91ACA-F876-4F45-8F6C-E505506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Critical data reconciliations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F805A-8653-408A-A640-725FE5A0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£1.2m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213D1-4D0D-46BB-B9E1-7BF1D41B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Run cost tied to legacy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C0087-547C-453A-856F-2DA4892A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Cost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3FF26-26D3-434E-83FE-E1084830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146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continues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A4835-04AE-412D-B2E8-AC9BEDA9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46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FEA8B-9E5F-4D75-9CDE-E2A31F0A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146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to validate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E9F74-47EC-4436-9625-8572C25E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effort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EF4BE-29CD-4B5D-AD9E-219E2BA6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146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 preparation, checking, commentary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36AD5-3536-47B8-B26A-22331B3C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146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Capacity stays trapped in low-value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6843A-9411-4D7E-B8D8-CEB3D1FC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146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Time studies, close calendar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CED83-6A79-4B6C-9C1D-CC5E521A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 friction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7A50C-179C-4769-9AD4-F329C2B1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147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logic and repeated reconciliation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A3F6B-FECD-40C8-B028-731E564C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147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Leadership debates the numbers before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37423-D74D-4130-8F3E-8D7A5F9D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147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 lineage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4E9A3-A897-4C3B-853C-CABF7B22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Platform complexity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FA653-4D71-4482-80C9-FDE724B5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147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More reports and integrations than needed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CCA40-FEAF-4EAE-89D6-07FA37F4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147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Run cost and change effort stay high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0AA122-8C9C-4ADE-951C-4F95C109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147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App and report inventory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15283-CF94-4C20-B33D-EC3ABCC4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Control exposure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46A05-13FF-48B1-A357-228A0704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148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evidence and unclear ownership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E1045F-F498-428F-B5EB-3726FE03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148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Audit and compliance effort stays high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6A1E77-D3F5-43B2-B461-7F39DD0F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148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Control findings, access reviews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141E41-FBA6-4BD4-AF3C-C196344B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794521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9982E-A876-4129-82E9-67C25A0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Options for leadership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58E9C-D634-4391-94A7-0A665E8C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A credible case compares choices. It does not pretend there is only one possible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52B66-9A10-4280-803D-471E23CF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6542B-406D-4ACC-BC17-63684D70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811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FD7A5-1D7B-49BD-887B-087B0DC3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811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Benefits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1D8EC-D65F-4A6D-8C6D-11220F6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811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749DD-34C4-4017-9737-9EA4CE4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7941B-FD09-47DD-813F-96990235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A. Keep Power BI-led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AC562-DD4C-46B2-9BDE-065E1CF5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11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Continue with current reporting setup and local improvements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D8DFD-8D29-4D01-B6E4-642CC165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811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 disruption, low upfront spend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6AB9F-5830-4C39-B300-59DBBFA2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811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Fragmentation and manual effort remain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CB09F-FE44-4363-871C-5ABC70C9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811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Accept only if pain is 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4E767-6CE5-4252-9C39-6FBB7417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B. Improve current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FA583-4E14-4F70-8798-A2FF3F97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Rationalize reports, strengthen data governance, automate selected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9737A-B46A-4E3E-87F5-DD429E24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812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Fastest practical 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C9928-806F-496E-B3CB-7997E02E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812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May not fix planning and performance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EDF21-5260-4B98-AA71-5FF4E872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812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Good bridge if funding is constrained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A06B7-C2C2-4502-BD2B-8E23A30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C. Phased SAC move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BF22D-AAA2-4030-B368-D7D8DC2D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12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Move priority planning and performance capabilities into SAC over 2-3 years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EFC92-B7F2-4CBF-8A97-904C65B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812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Stronger standardization and governed planning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F8205-EB97-416E-8FD9-C68682A5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812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Higher change effort and adoption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9E576-E914-4809-B434-133DB7AC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812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Preferred if Finance wants global consistency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24CDD-F8EE-4FB7-8A47-2FD710FA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990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7F1"/>
          </a:solidFill>
          <a:ln xmlns:a="http://schemas.openxmlformats.org/drawingml/2006/main" w="9525">
            <a:solidFill>
              <a:srgbClr val="367C5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Recommended decision logic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Choose SAC only where it improves Finance outcomes enough to justify TCO, migration risk and adoption effort. Keep Power BI where it remains the right consumption layer.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E55E2-5A52-47BD-9362-A7E9BF97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813575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C00E2E-A8F2-45E7-8D27-17CCF4E7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TCO and value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523AC-2ADA-477C-85DB-FB92262F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Leadership needs to see total cost, not only implementation cost.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18C49-B736-45A5-9A82-B396CF9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Investment 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1AFD3-52B9-4C40-A5C0-4B742AE4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2954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16C56-11B6-4467-8AB8-73028322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2954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A441C-4C35-4E5E-950D-ABB489B1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2954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E839E-FFB4-49EF-8EE1-9E5179C4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954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the spend buys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C6724-D7A7-4E7F-981C-6E46A292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SAC implementation and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C26BE-F560-4CAE-A221-E46DDCC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954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CA689-8C99-443F-98DF-047761DA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4A571-F626-4753-A58E-3ABBDF38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6954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£0.5m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FCBD2-86EF-4F96-BC82-603746BE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954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Priority FP&amp;A models, data feeds, testing and 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EAEE5-4AC8-45F4-B231-BE4D0DC6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Licences and cloud/run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45755-38DC-4A86-9047-50891119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£0.7m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412B4-BBCF-4AC0-ADE0-19B282DD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£0.9m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5DAC2-1F24-4661-A0C6-5936906C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5B297-5CDE-4CCF-90B1-4C4A0181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SAC usage, support, environments and platform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3CD12-04B8-49A0-A2F1-36D075A0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Change, training and adoption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3CB8C-ED58-463D-B3CC-50171154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30069-912C-41D4-9417-4C80B9DD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£0.3m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02AA1-38BE-4357-BBAE-70980970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£0.2m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7CD14-FFD0-48DD-88B3-9BA7E6DF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955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User adoption, process redesign, governance and support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B322D-80D7-41DE-A821-3CECEA43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Retired reporting / legacy 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8D8D1-6A23-4ED5-BCCF-26182A31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-£0.2m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AD69B1-65E7-449D-BC90-7DAF4EBC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-£0.7m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3790A-8BB3-468A-A9AA-E76A6FF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-£1.1m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F23D9A-7DFE-45A1-9378-039A7248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Decommissioned reports, infrastructure, support and duplicate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5C9B91-8837-4904-A976-45F6A4E1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Net annual cash impact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473F7-18AE-4E06-BB5B-6EAD17D4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£2.7m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743EF4-BE3D-4F3D-93B9-61BEC74E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£1.7m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EC6200-0FBE-4750-89F4-E3CD56AB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£0.6m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EAD8E4-C9AF-499F-BC71-4A3BDCA6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Illustrative investment profile before benefits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93B9B2-ABBC-4A1C-AC59-1AA75347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86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Capacity released from manual reporting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FEE4EC-85DB-446A-8C79-1225011F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BAAA65-0E7D-4F78-9BD8-A7B481A4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9D339C-94C9-4014-AF2E-2015CA41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49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6B32B7-1F96-4684-A1CF-A2C72025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00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 rationalization progress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240520-1E5E-4243-BEF6-D0D30D51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9727AC-EE8A-4BB6-8692-0457D60B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F2A932-F120-4D93-AE33-9E9F9CA6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720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49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1C7C15-C82E-42B6-A4F6-941CDB20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149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Planning cycle reduction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211613-5A26-4DC7-91FE-E2D0EF25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34025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BDA6DC-C592-477E-A9F0-4DB314F3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34025"/>
            <a:ext cx="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5D0D42-5936-4EE1-B1A1-79C373CB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49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7AA6C8-883E-4B01-AB7D-7793F8FE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53026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2BE21-FDC6-4364-A91C-0E8418DE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Phased investment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3D3AE-791C-4890-B6F6-B3FDF3EA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A multi-year case becomes defensible when each phase proves value and reduces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1407A-0394-4886-81E7-A07863AB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E5E3C-E6FA-4749-8F60-F8074FDC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858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E1982-DFF3-4E88-AA41-5CF998B5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2858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Value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C9DEC-1938-46F2-AD46-26BC4BB8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858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58AE0-FA8E-43A5-972C-7244D83E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0-6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82DF4-021B-4FFE-9D6F-3F591C45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859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Baseline estate, report inventory, data lineage, priority FP&amp;A use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C3009-A2F1-40B7-B79B-FA137676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Clear problem size, owners and pain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5BEDC-8654-417E-AEAF-38A78D17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859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Fund only if baseline confirms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7E7A0-6C3D-4A99-BD80-33E07435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6-12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012B3-8AFE-4BD6-9B3F-A99CD75A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859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Pilot SAC for selected planning or performance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5680F-593C-421F-832A-AD42D801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859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Adoption, cycle time, data quality and user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43AD6-2011-45C3-9C0E-1792550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Scale if pilot beats current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D6F68-4745-45C4-8AC6-5AF20466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Year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54A11-8775-4810-9E5B-FE46B0CA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860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Expand SAC to priority markets and standard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79DD9-9B0B-443E-B1F5-1949DFD8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860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Reduced variants, fewer reports, better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18E9C-F7B6-4946-B47F-BEAA57E3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860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Retire overlapping capability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E5AF8-5BD6-49D1-AA32-C2E120EA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84447-0633-4F36-93CE-68EDFC13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860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Optimize, automate and embed AI-assisted productivity where governed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167C9-389E-4C1F-A2DA-1FF54EA8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860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Lower run cost, faster insight, stronger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9ACE7-43CE-4783-B46A-27501BEB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860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Move to continuous improvement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BB0AD-5A66-4DCA-AD3D-606898EC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991736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B50B3-EC7B-4F3C-8113-42D3C609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9A7DC-EECA-4C44-BCF7-80F0A70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The recommendation depends on evidence from the baseline and appetite for transformation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BFB2B-D2B7-4573-851B-3E1E32FD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5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0F7F1"/>
          </a:solidFill>
          <a:ln xmlns:a="http://schemas.openxmlformats.org/drawingml/2006/main" w="9525">
            <a:solidFill>
              <a:srgbClr val="367C5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Approve phased SAC investment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96ECC-C393-4F58-8AB8-C1921AF0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Finance wants global planning standardization, governed performance management and measurable simplification.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C29E0-4E7B-4173-B67F-D04F923F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95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4A72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Approve bridge improvement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B8741-8391-4F54-9D68-6CE0AE0E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funding or adoption risk is too high, but reporting rationalization and data governance still need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5C83B-BB62-4F4A-AA26-AFE68B86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95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B94A4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 not approve full migration yet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B7748-D444-4CA8-A122-CEC9535B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the baseline cannot prove enough value, user adoption risk is high, or Power BI remains sufficient.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460E3-066B-48C7-9C48-67D5A30D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Leadership should 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4024C-D0C5-4121-9D85-20F31C5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24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B04A1-9552-4824-A75E-6C6AF3CB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F0A0D-BA3B-4E75-ABE1-FA466EB0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Finance outcome matters most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B0B76-B216-4F5A-B45F-4C1939DD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Cycle time, cost, control, insight or standardization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FF06F-77D2-4226-8772-0C7D2D3B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 value drivers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BB661-A4D0-4138-85B2-98198889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SAC creates better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226A4-0C33-4BE9-96B0-7217F322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24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cases where planning and performance need governed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BF00E-1207-4E3A-8724-E8C665D8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24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Prioritize first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08357-DC38-4D51-AA0E-9FF023A8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Power BI should still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CA16E-C8A8-4C87-9FE0-78F16A32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24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Reporting needs where consumption layer is enough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F6ABE-A03C-4A3F-9559-6E93C091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24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Avoid unnecessary migration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E2F2C-9D2B-4ED0-B568-887BCBAE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055162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2026-09-07T14:16:59.4420000Z</dcterms:created>
  <dcterms:modified xsi:type="dcterms:W3CDTF">2026-09-07T14:16:59.4420000Z</dcterms:modified>
</coreProperties>
</file>